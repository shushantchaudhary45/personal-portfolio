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summary of the five handouts with a focus on tags and CSS.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HTML is structure, CSS is presentation; changing the stylesheet changes the look without touching the content. The over-100 tag count is a general figure I added, not from the handouts. The point: learn the common tags and look up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this skeleton at the start of every page, then fill the body. Boilerplate means reusable starting code. Every opening tag needs a closing tag.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 from the handout: DOCTYPE is the building permit, html the house frame, head the infrastructure, body the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4 tags. Forms collect data; labels make them accessible.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Week 3 the lab used a placeholder photo from picsum.photos. Images in the project folder use a relative path like photo.jpg. Always include alt.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example makes paragraphs red. Maintainability is the key word: external means one place to change the wardrobe.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card example from the Week 5 lab. Use an id when it is one special element; use a class when several elements should look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Colors are HEX codes; the lab suggested asking Gemini for a brand's primary and secondary codes.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C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3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3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3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3EF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8346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spc="200" kern="0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1–5 · MAJOR POINTS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771140"/>
            <a:ext cx="1088339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3EFE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Presentation</a:t>
            </a:r>
            <a:endParaRPr lang="en-US" sz="6000" dirty="0"/>
          </a:p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3EFE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on HTML and CSS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C22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What are HTML and CSS?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572895"/>
            <a:ext cx="5175250" cy="2010410"/>
          </a:xfrm>
          <a:prstGeom prst="roundRect">
            <a:avLst>
              <a:gd name="adj" fmla="val 4896"/>
            </a:avLst>
          </a:prstGeom>
          <a:solidFill>
            <a:srgbClr val="FFFFFF"/>
          </a:solidFill>
          <a:ln w="6350">
            <a:solidFill>
              <a:srgbClr val="DDD6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828800"/>
            <a:ext cx="480334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1880" y="2260600"/>
            <a:ext cx="4803343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HyperText Markup Language. It gives a web page its structure and content: headings, paragraphs, images, lists, links and forms. Think of it as the skeleton of a building.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00775" y="1572895"/>
            <a:ext cx="5175250" cy="2010410"/>
          </a:xfrm>
          <a:prstGeom prst="roundRect">
            <a:avLst>
              <a:gd name="adj" fmla="val 4896"/>
            </a:avLst>
          </a:prstGeom>
          <a:solidFill>
            <a:srgbClr val="FFFFFF"/>
          </a:solidFill>
          <a:ln w="6350">
            <a:solidFill>
              <a:srgbClr val="DDD6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56680" y="1828800"/>
            <a:ext cx="480334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56680" y="2260600"/>
            <a:ext cx="4803343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Cascading Style Sheets. It controls how that content looks: colors, fonts, sizes and spacing. Think of it as the clothing and interior design.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5975" y="3843655"/>
            <a:ext cx="10560050" cy="1014730"/>
          </a:xfrm>
          <a:prstGeom prst="roundRect">
            <a:avLst>
              <a:gd name="adj" fmla="val 9700"/>
            </a:avLst>
          </a:prstGeom>
          <a:solidFill>
            <a:srgbClr val="FFFFFF"/>
          </a:solidFill>
          <a:ln w="6350">
            <a:solidFill>
              <a:srgbClr val="DDD6C8"/>
            </a:solidFill>
            <a:prstDash val="solid"/>
          </a:ln>
        </p:spPr>
        <p:txBody>
          <a:bodyPr wrap="square" lIns="227077" tIns="176277" rIns="0" bIns="150877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news:</a:t>
            </a:r>
            <a:r>
              <a:rPr lang="en-US" sz="17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HTML has over 100 tags in total, but we do not have to remember them all. A small set covers most pages, and we can always look the rest up.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12800" y="6238241"/>
            <a:ext cx="254431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9  · HTML tags &amp; CSS types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3EFE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HTML boilerplate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569720"/>
            <a:ext cx="5384800" cy="3924300"/>
          </a:xfrm>
          <a:prstGeom prst="roundRect">
            <a:avLst>
              <a:gd name="adj" fmla="val 2589"/>
            </a:avLst>
          </a:prstGeom>
          <a:solidFill>
            <a:srgbClr val="12161F"/>
          </a:solidFill>
          <a:ln/>
        </p:spPr>
      </p:sp>
      <p:sp>
        <p:nvSpPr>
          <p:cNvPr id="4" name="Text 2"/>
          <p:cNvSpPr/>
          <p:nvPr/>
        </p:nvSpPr>
        <p:spPr>
          <a:xfrm>
            <a:off x="1041400" y="1798320"/>
            <a:ext cx="50754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B454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&lt;!DOCTYPE html&gt;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41400" y="2065020"/>
            <a:ext cx="50754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B454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&lt;html lang="en"&gt;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41400" y="2331720"/>
            <a:ext cx="50754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B454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&lt;head&gt;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41400" y="2598420"/>
            <a:ext cx="50754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B454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&lt;meta charset="UTF-8"&gt;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41400" y="2865120"/>
            <a:ext cx="50754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B454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&lt;title&gt;My Business Card&lt;/title&gt;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41400" y="3131820"/>
            <a:ext cx="50754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B454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&lt;link rel="stylesheet"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41400" y="3398520"/>
            <a:ext cx="50754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B454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 href="style.css"&gt;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41400" y="3665220"/>
            <a:ext cx="50754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B454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&lt;/head&gt;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41400" y="3931920"/>
            <a:ext cx="50754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B454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&lt;body&gt;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41400" y="4198620"/>
            <a:ext cx="50754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B454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&lt;h1&gt;Hello! I am [Name]&lt;/h1&gt;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41400" y="4465320"/>
            <a:ext cx="50754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B454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&lt;p&gt;I study Computer Science.&lt;/p&gt;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41400" y="4732020"/>
            <a:ext cx="50754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B454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&lt;/body&gt;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41400" y="4998720"/>
            <a:ext cx="507542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B454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&lt;/html&gt;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51600" y="1569720"/>
            <a:ext cx="5075428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DOCTYPE</a:t>
            </a:r>
            <a:r>
              <a:rPr lang="en-US" sz="1400" dirty="0">
                <a:solidFill>
                  <a:srgbClr val="F3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tells the browser this is HTML5.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51600" y="1936750"/>
            <a:ext cx="5075428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lang</a:t>
            </a:r>
            <a:r>
              <a:rPr lang="en-US" sz="1400" dirty="0">
                <a:solidFill>
                  <a:srgbClr val="F3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root; lang sets the language.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51600" y="2303780"/>
            <a:ext cx="5075428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</a:t>
            </a:r>
            <a:r>
              <a:rPr lang="en-US" sz="1400" dirty="0">
                <a:solidFill>
                  <a:srgbClr val="F3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holds invisible information.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51600" y="2670811"/>
            <a:ext cx="5075428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charset</a:t>
            </a:r>
            <a:r>
              <a:rPr lang="en-US" sz="1400" dirty="0">
                <a:solidFill>
                  <a:srgbClr val="F3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UTF-8 shows all letters correctly.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51600" y="3037841"/>
            <a:ext cx="5075428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r>
              <a:rPr lang="en-US" sz="1400" dirty="0">
                <a:solidFill>
                  <a:srgbClr val="F3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browser tab text.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51600" y="3404870"/>
            <a:ext cx="5075428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r>
              <a:rPr lang="en-US" sz="1400" dirty="0">
                <a:solidFill>
                  <a:srgbClr val="F3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connects style.css.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51600" y="3771900"/>
            <a:ext cx="5075428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r>
              <a:rPr lang="en-US" sz="1400" dirty="0">
                <a:solidFill>
                  <a:srgbClr val="F3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holds everything visitors see.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41"/>
            <a:ext cx="254431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9  · HTML tags &amp; CSS types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3EFE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HTML tags: page structure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79880"/>
          <a:ext cx="10556240" cy="3568700"/>
        </p:xfrm>
        <a:graphic>
          <a:graphicData uri="http://schemas.openxmlformats.org/drawingml/2006/table">
            <a:tbl>
              <a:tblPr/>
              <a:tblGrid>
                <a:gridCol w="3518747"/>
                <a:gridCol w="3518747"/>
                <a:gridCol w="3518747"/>
              </a:tblGrid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5B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5B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340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&lt;!DOCTYPE html&gt;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Declares an HTML5 document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line of the file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&lt;html&gt;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Root container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Holds head and body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&lt;head&gt;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Metadata, invisible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Charset, title, CSS link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&lt;meta charset&gt;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Character encoding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UTF-8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&lt;title&gt;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Browser tab text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Inside head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&lt;body&gt;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visible content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Everything visitors see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&lt;h1&gt; to &lt;h6&gt;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Headings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Never skip levels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&lt;p&gt;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Paragraph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Always close 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&lt;img&gt;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src and alt; no closing tag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39"/>
            <a:ext cx="24426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9· HTML tags &amp; CSS types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C22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HTML tags: lists, links, forms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79881"/>
          <a:ext cx="10556240" cy="3568700"/>
        </p:xfrm>
        <a:graphic>
          <a:graphicData uri="http://schemas.openxmlformats.org/drawingml/2006/table">
            <a:tbl>
              <a:tblPr/>
              <a:tblGrid>
                <a:gridCol w="3518747"/>
                <a:gridCol w="3518747"/>
                <a:gridCol w="3518747"/>
              </a:tblGrid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0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6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0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6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0D9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&lt;ul&gt;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Unordered list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Bullets; order does not matter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3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&lt;ol&gt;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Ordered list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Numbers; sequence matters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&lt;li&gt;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 item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Goes inside ul or ol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&lt;a href&gt;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Hyperlink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target="_blank" opens a new tab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&lt;form&gt;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Wraps input controls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Like a paper application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&lt;label for&gt;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Describes an input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 matches the input id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&lt;input&gt;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Single-line entry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text or email; no closing tag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&lt;textarea&gt;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Multi-line entry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rows and cols set the size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&lt;button&gt;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Clickable trigger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C22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 submit or button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39"/>
            <a:ext cx="249345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9 · HTML tags &amp; CSS types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C22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img tag and its uses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569721"/>
            <a:ext cx="5384800" cy="1314450"/>
          </a:xfrm>
          <a:prstGeom prst="roundRect">
            <a:avLst>
              <a:gd name="adj" fmla="val 7729"/>
            </a:avLst>
          </a:prstGeom>
          <a:solidFill>
            <a:srgbClr val="12161F"/>
          </a:solidFill>
          <a:ln/>
        </p:spPr>
      </p:sp>
      <p:sp>
        <p:nvSpPr>
          <p:cNvPr id="4" name="Text 2"/>
          <p:cNvSpPr/>
          <p:nvPr/>
        </p:nvSpPr>
        <p:spPr>
          <a:xfrm>
            <a:off x="1041400" y="1798321"/>
            <a:ext cx="5075428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B454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&lt;img src="photo.jpg"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41400" y="2084071"/>
            <a:ext cx="5075428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B454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alt="My profile photo"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1400" y="2369821"/>
            <a:ext cx="5075428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B454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width="200"&gt;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51600" y="1569721"/>
            <a:ext cx="5075428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</a:t>
            </a:r>
            <a:r>
              <a:rPr lang="en-US" sz="15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image file path or web address.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51600" y="1953896"/>
            <a:ext cx="5075428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</a:t>
            </a:r>
            <a:r>
              <a:rPr lang="en-US" sz="15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describes the image for screen readers and shows if it fails to load.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51600" y="2595246"/>
            <a:ext cx="5075428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self-closing</a:t>
            </a:r>
            <a:r>
              <a:rPr lang="en-US" sz="15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needs no closing tag.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800" y="3138171"/>
            <a:ext cx="1088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Uses:</a:t>
            </a:r>
            <a:r>
              <a:rPr lang="en-US" sz="1600" dirty="0">
                <a:solidFill>
                  <a:srgbClr val="1C22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profile photo on a business card, a logo, or an illustration. If you see a broken-image icon, check the path and file name.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6238239"/>
            <a:ext cx="24426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9· HTML tags &amp; CSS types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3EFE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CSS types: three ways to apply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569721"/>
            <a:ext cx="3403600" cy="3190240"/>
          </a:xfrm>
          <a:prstGeom prst="roundRect">
            <a:avLst>
              <a:gd name="adj" fmla="val 3185"/>
            </a:avLst>
          </a:prstGeom>
          <a:solidFill>
            <a:srgbClr val="262D3D"/>
          </a:solidFill>
          <a:ln/>
        </p:spPr>
      </p:sp>
      <p:sp>
        <p:nvSpPr>
          <p:cNvPr id="4" name="Text 2"/>
          <p:cNvSpPr/>
          <p:nvPr/>
        </p:nvSpPr>
        <p:spPr>
          <a:xfrm>
            <a:off x="1041400" y="1798321"/>
            <a:ext cx="30347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41400" y="2230121"/>
            <a:ext cx="303479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3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tag. One element only. For quick tests.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41400" y="2854961"/>
            <a:ext cx="2946400" cy="990600"/>
          </a:xfrm>
          <a:prstGeom prst="roundRect">
            <a:avLst>
              <a:gd name="adj" fmla="val 7692"/>
            </a:avLst>
          </a:prstGeom>
          <a:solidFill>
            <a:srgbClr val="12161F"/>
          </a:solidFill>
          <a:ln/>
        </p:spPr>
      </p:sp>
      <p:sp>
        <p:nvSpPr>
          <p:cNvPr id="7" name="Text 5"/>
          <p:cNvSpPr/>
          <p:nvPr/>
        </p:nvSpPr>
        <p:spPr>
          <a:xfrm>
            <a:off x="1193800" y="3007361"/>
            <a:ext cx="272084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B454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&lt;p style="color: red;"&gt;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93800" y="3235961"/>
            <a:ext cx="272084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B454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Hello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93800" y="3464561"/>
            <a:ext cx="272084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B454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&lt;/p&gt;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94200" y="1569721"/>
            <a:ext cx="3403600" cy="3190240"/>
          </a:xfrm>
          <a:prstGeom prst="roundRect">
            <a:avLst>
              <a:gd name="adj" fmla="val 3185"/>
            </a:avLst>
          </a:prstGeom>
          <a:solidFill>
            <a:srgbClr val="262D3D"/>
          </a:solidFill>
          <a:ln/>
        </p:spPr>
      </p:sp>
      <p:sp>
        <p:nvSpPr>
          <p:cNvPr id="11" name="Text 9"/>
          <p:cNvSpPr/>
          <p:nvPr/>
        </p:nvSpPr>
        <p:spPr>
          <a:xfrm>
            <a:off x="4622800" y="1798321"/>
            <a:ext cx="30347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22800" y="2230121"/>
            <a:ext cx="303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3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head. One page.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22800" y="2606039"/>
            <a:ext cx="2946400" cy="1447800"/>
          </a:xfrm>
          <a:prstGeom prst="roundRect">
            <a:avLst>
              <a:gd name="adj" fmla="val 5263"/>
            </a:avLst>
          </a:prstGeom>
          <a:solidFill>
            <a:srgbClr val="12161F"/>
          </a:solidFill>
          <a:ln/>
        </p:spPr>
      </p:sp>
      <p:sp>
        <p:nvSpPr>
          <p:cNvPr id="14" name="Text 12"/>
          <p:cNvSpPr/>
          <p:nvPr/>
        </p:nvSpPr>
        <p:spPr>
          <a:xfrm>
            <a:off x="4775200" y="2758439"/>
            <a:ext cx="272084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B454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&lt;head&gt;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75200" y="2987039"/>
            <a:ext cx="272084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B454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&lt;style&gt;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5200" y="3215639"/>
            <a:ext cx="272084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B454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  p { color: red; }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75200" y="3444239"/>
            <a:ext cx="272084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B454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&lt;/style&gt;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75200" y="3672839"/>
            <a:ext cx="272084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B454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&lt;/head&gt;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75600" y="1569721"/>
            <a:ext cx="3403600" cy="3190240"/>
          </a:xfrm>
          <a:prstGeom prst="roundRect">
            <a:avLst>
              <a:gd name="adj" fmla="val 3185"/>
            </a:avLst>
          </a:prstGeom>
          <a:solidFill>
            <a:srgbClr val="262D3D"/>
          </a:solidFill>
          <a:ln/>
        </p:spPr>
      </p:sp>
      <p:sp>
        <p:nvSpPr>
          <p:cNvPr id="20" name="Text 18"/>
          <p:cNvSpPr/>
          <p:nvPr/>
        </p:nvSpPr>
        <p:spPr>
          <a:xfrm>
            <a:off x="8204200" y="1798321"/>
            <a:ext cx="303479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⭐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04200" y="2230121"/>
            <a:ext cx="303479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3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file. Many pages. The standard.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04200" y="2854961"/>
            <a:ext cx="2946400" cy="1676400"/>
          </a:xfrm>
          <a:prstGeom prst="roundRect">
            <a:avLst>
              <a:gd name="adj" fmla="val 4545"/>
            </a:avLst>
          </a:prstGeom>
          <a:solidFill>
            <a:srgbClr val="12161F"/>
          </a:solidFill>
          <a:ln/>
        </p:spPr>
      </p:sp>
      <p:sp>
        <p:nvSpPr>
          <p:cNvPr id="23" name="Text 21"/>
          <p:cNvSpPr/>
          <p:nvPr/>
        </p:nvSpPr>
        <p:spPr>
          <a:xfrm>
            <a:off x="8356600" y="3007361"/>
            <a:ext cx="272084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B454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&lt;!-- index.html --&gt;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56600" y="3235961"/>
            <a:ext cx="272084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B454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&lt;link rel="stylesheet"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56600" y="3464561"/>
            <a:ext cx="272084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B454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  href="style.css"&gt;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56600" y="3921761"/>
            <a:ext cx="272084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B454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/* style.css */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56600" y="4150361"/>
            <a:ext cx="272084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B454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p { color: red; }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39"/>
            <a:ext cx="23817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9 HTML tags &amp; CSS types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3EFE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Where to use id and class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569721"/>
            <a:ext cx="5384800" cy="2190750"/>
          </a:xfrm>
          <a:prstGeom prst="roundRect">
            <a:avLst>
              <a:gd name="adj" fmla="val 4638"/>
            </a:avLst>
          </a:prstGeom>
          <a:solidFill>
            <a:srgbClr val="12161F"/>
          </a:solidFill>
          <a:ln/>
        </p:spPr>
      </p:sp>
      <p:sp>
        <p:nvSpPr>
          <p:cNvPr id="4" name="Text 2"/>
          <p:cNvSpPr/>
          <p:nvPr/>
        </p:nvSpPr>
        <p:spPr>
          <a:xfrm>
            <a:off x="1041400" y="1798321"/>
            <a:ext cx="507542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B454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&lt;h1 id="profile-name"&gt;Alex&lt;/h1&gt;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41400" y="2045971"/>
            <a:ext cx="507542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B454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&lt;p class="card-info"&gt;Student&lt;/p&gt;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41400" y="2293621"/>
            <a:ext cx="507542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B454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&lt;p class="card-info"&gt;Seoul&lt;/p&gt;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41400" y="2788921"/>
            <a:ext cx="507542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B454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/* style.css */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41400" y="3036571"/>
            <a:ext cx="507542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B454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#profile-name { color: #1db954; 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41400" y="3284221"/>
            <a:ext cx="507542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B454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.card-info { color: #b3b3b3; 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51600" y="1569721"/>
            <a:ext cx="5075428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r>
              <a:rPr lang="en-US" sz="1400" dirty="0">
                <a:solidFill>
                  <a:srgbClr val="F3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names one unique element, used once per page. Example: the name heading.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51600" y="2176782"/>
            <a:ext cx="5075428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</a:t>
            </a:r>
            <a:r>
              <a:rPr lang="en-US" sz="1400" dirty="0">
                <a:solidFill>
                  <a:srgbClr val="F3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names a group that shares one style, reused anywhere. Example: all info lines.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51600" y="2783839"/>
            <a:ext cx="5075428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</a:t>
            </a:r>
            <a:r>
              <a:rPr lang="en-US" sz="1400" dirty="0">
                <a:solidFill>
                  <a:srgbClr val="F3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CSS uses # for id and a dot for class.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42"/>
            <a:ext cx="249345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9 · HTML tags &amp; CSS types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238242"/>
            <a:ext cx="249345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9 · HTML tags &amp; CSS types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3EFE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CSS properties I used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78610"/>
          <a:ext cx="10556240" cy="2871470"/>
        </p:xfrm>
        <a:graphic>
          <a:graphicData uri="http://schemas.openxmlformats.org/drawingml/2006/table">
            <a:tbl>
              <a:tblPr/>
              <a:tblGrid>
                <a:gridCol w="3518747"/>
                <a:gridCol w="3518747"/>
                <a:gridCol w="3518747"/>
              </a:tblGrid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Property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5B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3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 from the lab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5B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B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B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340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color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 color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#1db954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B5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background-color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Background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#121212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font-family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Typeface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sans-serif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font-size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 size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28px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line-height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 spacing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letter-spacing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 between letters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F3EF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-0.5px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1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Major Points I Learned: HTML Tags &amp; CSS Types">
  <a:themeElements>
    <a:clrScheme name="Major Points I Learned: HTML Tags &amp; CSS Types">
      <a:dk1>
        <a:srgbClr val="1C2230"/>
      </a:dk1>
      <a:lt1>
        <a:srgbClr val="F3EFE6"/>
      </a:lt1>
      <a:dk2>
        <a:srgbClr val="323742"/>
      </a:dk2>
      <a:lt2>
        <a:srgbClr val="BDBCB9"/>
      </a:lt2>
      <a:accent1>
        <a:srgbClr val="FFB454"/>
      </a:accent1>
      <a:accent2>
        <a:srgbClr val="C2410C"/>
      </a:accent2>
      <a:accent3>
        <a:srgbClr val="9AA3B2"/>
      </a:accent3>
      <a:accent4>
        <a:srgbClr val="6A7179"/>
      </a:accent4>
      <a:accent5>
        <a:srgbClr val="9AA0A6"/>
      </a:accent5>
      <a:accent6>
        <a:srgbClr val="9D9D9D"/>
      </a:accent6>
      <a:hlink>
        <a:srgbClr val="0563C1"/>
      </a:hlink>
      <a:folHlink>
        <a:srgbClr val="954F72"/>
      </a:folHlink>
    </a:clrScheme>
    <a:fontScheme name="Major Points I Learned: HTML Tags &amp; CSS Types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nsola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Major Points I Learned: HTML Tags &amp; CSS Types</dc:title>
  <dc:subject/>
  <dc:creator/>
  <cp:lastModifiedBy/>
  <cp:revision>1</cp:revision>
  <dcterms:created xsi:type="dcterms:W3CDTF">2026-10-05T03:25:09Z</dcterms:created>
  <dcterms:modified xsi:type="dcterms:W3CDTF">2026-10-05T03:25:09Z</dcterms:modified>
</cp:coreProperties>
</file>